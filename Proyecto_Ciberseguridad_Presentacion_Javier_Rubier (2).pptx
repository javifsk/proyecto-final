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heXGsdlFlkVVB2mP5VBQAiQl5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 el objetivo general: recuperar un servidor comprometido, demostrar hallazgos forenses, aplicar hardening y validar con pruebas.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Asegura el contexto: servidor comprometido, objetivo de recuperación + hardening, y alcance por servicios/herramientas.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 la estructura del proyecto en 3 fases y el ciclo de mejora continua.</a:t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Menciona brevemente qué logs se revisaron y cómo se construyó evidencia para justificar las correcciones.</a:t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 cada vulnerabilidad en 1 frase: qué era, por qué es peligrosa y qué podría pasar si se explota.</a:t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Enfatiza el “antes/después”: cerrar puertas (anónimo/root), fortalecer credenciales y aplicar mínimo privilegio.</a:t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Asegúrate de explicar que se repitieron pruebas post-cambio y que cada control tiene evidencia.</a:t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Aclara que “cerrar puertos” no es apagar todo: es permitir solo lo necesario según el servicio.</a:t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Aquí vendes la parte “profesional”: no solo parchear, sino proceso (ISO) + respuesta (NIST) + protección de datos (DLP).</a:t>
            </a:r>
            <a:endParaRPr/>
          </a:p>
        </p:txBody>
      </p:sp>
      <p:sp>
        <p:nvSpPr>
          <p:cNvPr id="209" name="Google Shape;2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Muestra que el trabajo es “presentable”: no solo técnico, también documentación y comunicación.</a:t>
            </a:r>
            <a:endParaRPr/>
          </a:p>
        </p:txBody>
      </p:sp>
      <p:sp>
        <p:nvSpPr>
          <p:cNvPr id="243" name="Google Shape;24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Cierra con beneficios y continuidad: seguridad es proceso, no evento.</a:t>
            </a:r>
            <a:endParaRPr/>
          </a:p>
        </p:txBody>
      </p:sp>
      <p:sp>
        <p:nvSpPr>
          <p:cNvPr id="276" name="Google Shape;27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Invita preguntas sobre: evidencias, cambios en config, por qué cada control mitiga el riesgo, y cómo validar.</a:t>
            </a:r>
            <a:endParaRPr/>
          </a:p>
        </p:txBody>
      </p:sp>
      <p:sp>
        <p:nvSpPr>
          <p:cNvPr id="293" name="Google Shape;29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7" name="Google Shape;17;p1"/>
          <p:cNvSpPr/>
          <p:nvPr/>
        </p:nvSpPr>
        <p:spPr>
          <a:xfrm>
            <a:off x="822960" y="1097280"/>
            <a:ext cx="10972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Google Shape;18;p1"/>
          <p:cNvSpPr/>
          <p:nvPr/>
        </p:nvSpPr>
        <p:spPr>
          <a:xfrm>
            <a:off x="822960" y="21031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Play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Proyecto de Ciberseguridad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41248" y="292608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Restauración y fortalecimiento de un servidor crítico comprometido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749040"/>
            <a:ext cx="6126480" cy="1051560"/>
          </a:xfrm>
          <a:prstGeom prst="roundRect">
            <a:avLst>
              <a:gd fmla="val 16667" name="adj"/>
            </a:avLst>
          </a:prstGeom>
          <a:solidFill>
            <a:srgbClr val="102A4F"/>
          </a:solidFill>
          <a:ln cap="flat" cmpd="sng" w="12700">
            <a:solidFill>
              <a:srgbClr val="102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051560" y="3895344"/>
            <a:ext cx="5715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Presentado por: Javier Rubier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Curso: Ciberseguridad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Fecha: 9 de enero de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Profesor: Iván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640080" y="146304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Objetivo y alcance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58368" y="47548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Qué se buscó lograr y qué se cubrió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1143000"/>
            <a:ext cx="10972800" cy="5166360"/>
          </a:xfrm>
          <a:prstGeom prst="roundRect">
            <a:avLst>
              <a:gd fmla="val 16667" name="adj"/>
            </a:avLst>
          </a:prstGeom>
          <a:solidFill>
            <a:srgbClr val="F6F8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2" name="Google Shape;32;p2"/>
          <p:cNvSpPr/>
          <p:nvPr/>
        </p:nvSpPr>
        <p:spPr>
          <a:xfrm>
            <a:off x="1097280" y="1600200"/>
            <a:ext cx="914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" name="Google Shape;33;p2"/>
          <p:cNvSpPr/>
          <p:nvPr/>
        </p:nvSpPr>
        <p:spPr>
          <a:xfrm>
            <a:off x="2148840" y="148132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Objetivo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148840" y="187452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Restaurar y proteger un servidor crítico tras un compromiso de seguridad.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Identificar el vector de ataque mediante análisis forense y evidencias.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Corregir vulnerabilidades, reducir superficie de ataque y validar cambios.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35" name="Google Shape;35;p2"/>
          <p:cNvSpPr/>
          <p:nvPr/>
        </p:nvSpPr>
        <p:spPr>
          <a:xfrm>
            <a:off x="1097280" y="3337560"/>
            <a:ext cx="914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6" name="Google Shape;36;p2"/>
          <p:cNvSpPr/>
          <p:nvPr/>
        </p:nvSpPr>
        <p:spPr>
          <a:xfrm>
            <a:off x="2148840" y="321868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Alcance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148840" y="3611880"/>
            <a:ext cx="91440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Servicios revisados: MySQL/MariaDB, FTP (vsftpd), SSH y exposición de puertos.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Herramientas: Nmap (descubrimiento/validación), Kali Linux (pruebas), logs del sistema.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Entregables: pentesting, incidente, recuperación, y resumen ejecutivo.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0080" y="6547104"/>
            <a:ext cx="877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Resumen del proyecto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972800" y="654710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640080" y="146304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Metodología por fases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658368" y="47548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Ejecución estructurada: detectar → corregir → validar → gobernar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822960" y="1828800"/>
            <a:ext cx="3429000" cy="3291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1143000" y="2148840"/>
            <a:ext cx="640080" cy="640080"/>
          </a:xfrm>
          <a:prstGeom prst="roundRect">
            <a:avLst>
              <a:gd fmla="val 16667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51" name="Google Shape;51;p3"/>
          <p:cNvSpPr/>
          <p:nvPr/>
        </p:nvSpPr>
        <p:spPr>
          <a:xfrm>
            <a:off x="1252728" y="2258568"/>
            <a:ext cx="4206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2" name="Google Shape;52;p3"/>
          <p:cNvSpPr/>
          <p:nvPr/>
        </p:nvSpPr>
        <p:spPr>
          <a:xfrm>
            <a:off x="1874520" y="214884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Fase 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1143000" y="2834640"/>
            <a:ext cx="27889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Corrección de un hackeo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Análisis forense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Hallazgos y riesgos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Hardening por servicio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297680" y="3108960"/>
            <a:ext cx="411480" cy="7315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754880" y="1828800"/>
            <a:ext cx="3429000" cy="3291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074920" y="2148840"/>
            <a:ext cx="640080" cy="640080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57" name="Google Shape;57;p3"/>
          <p:cNvSpPr/>
          <p:nvPr/>
        </p:nvSpPr>
        <p:spPr>
          <a:xfrm>
            <a:off x="5184648" y="2258568"/>
            <a:ext cx="4206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8" name="Google Shape;58;p3"/>
          <p:cNvSpPr/>
          <p:nvPr/>
        </p:nvSpPr>
        <p:spPr>
          <a:xfrm>
            <a:off x="5806440" y="214884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Fase 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074920" y="2834640"/>
            <a:ext cx="27889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Nueva vulnerabilidad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Puertos innecesarios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Firewall (ufw)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Verificación post-cambio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229600" y="3108960"/>
            <a:ext cx="411480" cy="7315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8686800" y="1828800"/>
            <a:ext cx="3429000" cy="3291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9006840" y="2148840"/>
            <a:ext cx="640080" cy="64008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63" name="Google Shape;63;p3"/>
          <p:cNvSpPr/>
          <p:nvPr/>
        </p:nvSpPr>
        <p:spPr>
          <a:xfrm>
            <a:off x="9116568" y="2258568"/>
            <a:ext cx="420624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4" name="Google Shape;64;p3"/>
          <p:cNvSpPr/>
          <p:nvPr/>
        </p:nvSpPr>
        <p:spPr>
          <a:xfrm>
            <a:off x="9738360" y="214884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Fase 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9006840" y="2834640"/>
            <a:ext cx="27889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Madurez y continuidad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SGSI (ISO 27001)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IRP (NIST 800-61)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DLP y controles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822960" y="5440680"/>
            <a:ext cx="10561320" cy="594360"/>
          </a:xfrm>
          <a:prstGeom prst="roundRect">
            <a:avLst>
              <a:gd fmla="val 16667" name="adj"/>
            </a:avLst>
          </a:prstGeom>
          <a:solidFill>
            <a:srgbClr val="F6F8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1051560" y="5568696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Detectar  →  Corregir  →  Validar  →  Documentar  →  Mejorar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40080" y="6547104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0972800" y="654710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640080" y="146304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Fase 1: Investigación forense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58368" y="47548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¿Cómo ocurrió el compromiso y qué evidencias lo demuestran?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822960" y="960120"/>
            <a:ext cx="1874520" cy="329184"/>
          </a:xfrm>
          <a:prstGeom prst="roundRect">
            <a:avLst>
              <a:gd fmla="val 16667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932688" y="1024128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822960" y="1417320"/>
            <a:ext cx="539496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1143000" y="161848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Acciones realizadas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143000" y="2020824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Revisión de servicios expuestos y configuración (ss, systemctl).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Análisis de logs para rastrear accesos y cambios: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 - /var/log/auth.log (SSH)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 - logs de vsftpd / journalctl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 - logs del servicio de BD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Identificación de usuarios, permisos y vectores probables.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Captura de evidencias (comandos, salidas y capturas).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446520" y="1417320"/>
            <a:ext cx="4919472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6766560" y="16459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Objetivo del forense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766560" y="2057400"/>
            <a:ext cx="43891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Determinar: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Método de acceso inicial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Servicios comprometidos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Persistencia o cambios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Alcance del impacto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Resultado: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Lista priorizada de vulnerabilidades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Evidencias reproducibles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Plan de remediación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766560" y="5440680"/>
            <a:ext cx="4389120" cy="548640"/>
          </a:xfrm>
          <a:prstGeom prst="roundRect">
            <a:avLst>
              <a:gd fmla="val 16667" name="adj"/>
            </a:avLst>
          </a:prstGeom>
          <a:solidFill>
            <a:srgbClr val="F6F8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6903720" y="55778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Enfoque: evidencia → corrección → verificación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40080" y="6547104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0972800" y="654710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640080" y="146304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Fase 1: Vulnerabilidades identificadas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58368" y="47548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Hallazgos principales y riesgo asociado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22960" y="960120"/>
            <a:ext cx="1874520" cy="329184"/>
          </a:xfrm>
          <a:prstGeom prst="roundRect">
            <a:avLst>
              <a:gd fmla="val 16667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932688" y="1024128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22960" y="1417320"/>
            <a:ext cx="1124712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960120" y="1600200"/>
            <a:ext cx="11109960" cy="502920"/>
          </a:xfrm>
          <a:prstGeom prst="rect">
            <a:avLst/>
          </a:prstGeom>
          <a:solidFill>
            <a:srgbClr val="F6F8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1097280" y="17190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Servicio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926080" y="17190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498080" y="17190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0241280" y="171907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Riesgo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960120" y="2240280"/>
            <a:ext cx="1110996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1097280" y="23774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MySQL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2926080" y="2404872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Usuario con contraseña débil / configuración por defecto.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498080" y="2404872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Acceso no autorizado a datos, escalación y persistencia.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0378440" y="2542032"/>
            <a:ext cx="1234440" cy="310896"/>
          </a:xfrm>
          <a:prstGeom prst="roundRect">
            <a:avLst>
              <a:gd fmla="val 16667" name="adj"/>
            </a:avLst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10378440" y="2596896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960120" y="3200400"/>
            <a:ext cx="11109960" cy="960120"/>
          </a:xfrm>
          <a:prstGeom prst="rect">
            <a:avLst/>
          </a:prstGeom>
          <a:solidFill>
            <a:srgbClr val="FBFDFF"/>
          </a:solidFill>
          <a:ln cap="flat" cmpd="sng" w="12700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1097280" y="333756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FTP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2926080" y="3364992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Acceso anónimo y permisos inseguros.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7498080" y="3364992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Exposición/modificación de archivos y credenciales.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0378440" y="3502152"/>
            <a:ext cx="1234440" cy="310896"/>
          </a:xfrm>
          <a:prstGeom prst="roundRect">
            <a:avLst>
              <a:gd fmla="val 16667" name="adj"/>
            </a:avLst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10378440" y="3557016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960120" y="4160520"/>
            <a:ext cx="11109960" cy="960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1097280" y="429768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SSH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2926080" y="4325112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Acceso a root por contraseña y endurecimiento insuficiente.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498080" y="4325112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Fuerza bruta, control total del servidor si se compromete.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0378440" y="4462272"/>
            <a:ext cx="1234440" cy="310896"/>
          </a:xfrm>
          <a:prstGeom prst="roundRect">
            <a:avLst>
              <a:gd fmla="val 16667" name="adj"/>
            </a:avLst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10378440" y="4517136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960120" y="6263640"/>
            <a:ext cx="11109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Prioridad: corregir primero credenciales/controles de acceso y reducir exposición.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40080" y="6547104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Hallazgos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0972800" y="654710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640080" y="146304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Fase 1: Soluciones implementadas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58368" y="47548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Hardening por servicio + validación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22960" y="960120"/>
            <a:ext cx="1874520" cy="329184"/>
          </a:xfrm>
          <a:prstGeom prst="roundRect">
            <a:avLst>
              <a:gd fmla="val 16667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932688" y="1024128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22960" y="1508760"/>
            <a:ext cx="3383280" cy="4617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143000" y="182880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42" name="Google Shape;142;p6"/>
          <p:cNvSpPr/>
          <p:nvPr/>
        </p:nvSpPr>
        <p:spPr>
          <a:xfrm>
            <a:off x="1271016" y="1956816"/>
            <a:ext cx="42976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3" name="Google Shape;143;p6"/>
          <p:cNvSpPr/>
          <p:nvPr/>
        </p:nvSpPr>
        <p:spPr>
          <a:xfrm>
            <a:off x="1965960" y="180136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MySQL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143000" y="2651760"/>
            <a:ext cx="2743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Contraseñas fuertes y rotación.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Principio de mínimo privilegio.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Restringir accesos (hosts/usuarios).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Revisar usuarios y permisos.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143000" y="5349240"/>
            <a:ext cx="2743200" cy="640080"/>
          </a:xfrm>
          <a:prstGeom prst="roundRect">
            <a:avLst>
              <a:gd fmla="val 16667" name="adj"/>
            </a:avLst>
          </a:prstGeom>
          <a:solidFill>
            <a:srgbClr val="F6F8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1234440" y="5495544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Validación: pruebas de acceso + revisión de logs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434840" y="1508760"/>
            <a:ext cx="3383280" cy="4617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4754880" y="182880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49" name="Google Shape;149;p6"/>
          <p:cNvSpPr/>
          <p:nvPr/>
        </p:nvSpPr>
        <p:spPr>
          <a:xfrm>
            <a:off x="4882896" y="1956816"/>
            <a:ext cx="42976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0" name="Google Shape;150;p6"/>
          <p:cNvSpPr/>
          <p:nvPr/>
        </p:nvSpPr>
        <p:spPr>
          <a:xfrm>
            <a:off x="5577840" y="180136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FTP (vsftpd)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754880" y="2651760"/>
            <a:ext cx="2743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Deshabilitar acceso anónimo.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Revisar permisos y rutas.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Chroot para usuarios locales.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(Recomendado) habilitar TLS.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754880" y="5349240"/>
            <a:ext cx="2743200" cy="640080"/>
          </a:xfrm>
          <a:prstGeom prst="roundRect">
            <a:avLst>
              <a:gd fmla="val 16667" name="adj"/>
            </a:avLst>
          </a:prstGeom>
          <a:solidFill>
            <a:srgbClr val="F6F8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4846320" y="5495544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Validación: pruebas de acceso + revisión de logs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8046720" y="1508760"/>
            <a:ext cx="3383280" cy="4617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8366760" y="182880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56" name="Google Shape;156;p6"/>
          <p:cNvSpPr/>
          <p:nvPr/>
        </p:nvSpPr>
        <p:spPr>
          <a:xfrm>
            <a:off x="8494776" y="1956816"/>
            <a:ext cx="42976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7" name="Google Shape;157;p6"/>
          <p:cNvSpPr/>
          <p:nvPr/>
        </p:nvSpPr>
        <p:spPr>
          <a:xfrm>
            <a:off x="9189720" y="1801368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SSH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366760" y="2651760"/>
            <a:ext cx="2743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Deshabilitar login de root.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Autenticación por llaves.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Limitar usuarios y opciones.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Mitigar fuerza bruta (ej. fail2ban).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366760" y="5349240"/>
            <a:ext cx="2743200" cy="640080"/>
          </a:xfrm>
          <a:prstGeom prst="roundRect">
            <a:avLst>
              <a:gd fmla="val 16667" name="adj"/>
            </a:avLst>
          </a:prstGeom>
          <a:solidFill>
            <a:srgbClr val="F6F8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8458200" y="5495544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Validación: pruebas de acceso + revisión de logs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40080" y="6547104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Remediación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0972800" y="654710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40080" y="146304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Pruebas y evidencias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58368" y="47548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Cómo se comprobó que las correcciones funcionaron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822960" y="1417320"/>
            <a:ext cx="1124712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1143000" y="169164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1) Escaneo y validación (Nmap)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143000" y="2148840"/>
            <a:ext cx="5394960" cy="1234440"/>
          </a:xfrm>
          <a:prstGeom prst="roundRect">
            <a:avLst>
              <a:gd fmla="val 16667" name="adj"/>
            </a:avLst>
          </a:prstGeom>
          <a:solidFill>
            <a:srgbClr val="F6F8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1325880" y="2286000"/>
            <a:ext cx="5029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Escaneo inicial: identificar puertos/servicios expuestos.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Aplicación de cambios: hardening + firewall.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Escaneo final: confirmar reducción de exposición.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720840" y="16916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2) Pruebas de autenticación y logs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903720" y="2148840"/>
            <a:ext cx="5303520" cy="2194560"/>
          </a:xfrm>
          <a:prstGeom prst="roundRect">
            <a:avLst>
              <a:gd fmla="val 16667" name="adj"/>
            </a:avLst>
          </a:prstGeom>
          <a:solidFill>
            <a:srgbClr val="F6F8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7086600" y="2286000"/>
            <a:ext cx="493776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FTP: verificar que el anónimo no entra / permisos correctos.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SSH: confirmar root deshabilitado y acceso por llaves.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BD: comprobar usuarios y privilegios mínimos.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Evidencia: capturas + comandos + logs relevantes.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1143000" y="4526280"/>
            <a:ext cx="11064240" cy="1463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1325880" y="4709160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Play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Checklist de evidencia (para revisión del profesor)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325880" y="498348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✓ Comandos y salidas guardadas (pre/post).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✓ Capturas de configuración (vsftpd.conf, sshd_config, usuarios MySQL).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✓ Logs relevantes (auth.log, journalctl vsftpd, etc.).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✓ Escaneo Nmap final demostrando puertos mínimos necesarios.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40080" y="6547104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0972800" y="654710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640080" y="146304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Fase 2: Puertos innecesarios abiertos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658368" y="47548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Reducción de superficie de ataque con firewall (ufw)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822960" y="960120"/>
            <a:ext cx="1874520" cy="329184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932688" y="1024128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22960" y="1417320"/>
            <a:ext cx="548640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764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1143000" y="161848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Hallazgo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1143000" y="2020824"/>
            <a:ext cx="484632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Se detectaron puertos abiertos que no eran requeridos para el servicio.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Cada puerto abierto aumenta la superficie de ataque.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Riesgos: fingerprinting, explotación de servicios, acceso no autorizado.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Enfoque: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Mantener solo puertos necesarios (allowlist).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Bloquear por defecto y permitir de forma explícita.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537960" y="1417320"/>
            <a:ext cx="4754880" cy="4754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6812280" y="16459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Solución (ejemplo)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812280" y="2103120"/>
            <a:ext cx="4206240" cy="1783080"/>
          </a:xfrm>
          <a:prstGeom prst="roundRect">
            <a:avLst>
              <a:gd fmla="val 16667" name="adj"/>
            </a:avLst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6967728" y="2212848"/>
            <a:ext cx="39319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sudo ufw default deny incoming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sudo ufw default allow outgoing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sudo ufw allow 22/tcp   # SSH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sudo ufw allow 21/tcp   # FTP (si aplica)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sudo ufw allow 80/tcp # Web (si aplica)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sudo ufw enable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sudo ufw status verbose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812280" y="406908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Play"/>
              <a:buNone/>
            </a:pPr>
            <a:r>
              <a:rPr b="1" i="0" lang="en-US" sz="16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Validación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812280" y="4389120"/>
            <a:ext cx="42062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Nmap post-cambio: confirmar puertos cerrados.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Probar que los servicios permitidos siguen operando.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Documentar reglas y razón de negocio por puerto.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40080" y="6547104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Superficie de ataque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0972800" y="654710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640080" y="146304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Fase 3: Seguridad continua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58368" y="47548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SGSI (ISO 27001) + Respuesta a incidentes (NIST) + DLP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822960" y="960120"/>
            <a:ext cx="1874520" cy="329184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932688" y="1024128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822960" y="1463040"/>
            <a:ext cx="361188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1143000" y="178308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19" name="Google Shape;219;p9"/>
          <p:cNvSpPr/>
          <p:nvPr/>
        </p:nvSpPr>
        <p:spPr>
          <a:xfrm>
            <a:off x="1271016" y="1911096"/>
            <a:ext cx="42976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0" name="Google Shape;220;p9"/>
          <p:cNvSpPr/>
          <p:nvPr/>
        </p:nvSpPr>
        <p:spPr>
          <a:xfrm>
            <a:off x="1965960" y="1764792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SGSI (ISO 27001)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143000" y="2606040"/>
            <a:ext cx="29718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Políticas y procedimientos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Gestión de riesgos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Controles de acceso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Mejora continua (PDCA)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143000" y="5532120"/>
            <a:ext cx="2971800" cy="548640"/>
          </a:xfrm>
          <a:prstGeom prst="roundRect">
            <a:avLst>
              <a:gd fmla="val 16667" name="adj"/>
            </a:avLst>
          </a:prstGeom>
          <a:solidFill>
            <a:srgbClr val="F6F8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1234440" y="566928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Resultado: control + repetibilidad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663440" y="1463040"/>
            <a:ext cx="361188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4983480" y="178308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26" name="Google Shape;226;p9"/>
          <p:cNvSpPr/>
          <p:nvPr/>
        </p:nvSpPr>
        <p:spPr>
          <a:xfrm>
            <a:off x="5111496" y="1911096"/>
            <a:ext cx="42976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7" name="Google Shape;227;p9"/>
          <p:cNvSpPr/>
          <p:nvPr/>
        </p:nvSpPr>
        <p:spPr>
          <a:xfrm>
            <a:off x="5806440" y="1764792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IRP (NIST 800-61)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983480" y="2606040"/>
            <a:ext cx="29718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Preparación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Identificación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Contención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Erradicación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Recuperación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Lecciones aprendidas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983480" y="5532120"/>
            <a:ext cx="2971800" cy="548640"/>
          </a:xfrm>
          <a:prstGeom prst="roundRect">
            <a:avLst>
              <a:gd fmla="val 16667" name="adj"/>
            </a:avLst>
          </a:prstGeom>
          <a:solidFill>
            <a:srgbClr val="F6F8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5074920" y="566928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Resultado: control + repetibilidad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8503920" y="1463040"/>
            <a:ext cx="3611880" cy="4709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8823960" y="178308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33" name="Google Shape;233;p9"/>
          <p:cNvSpPr/>
          <p:nvPr/>
        </p:nvSpPr>
        <p:spPr>
          <a:xfrm>
            <a:off x="8951976" y="1911096"/>
            <a:ext cx="42976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4" name="Google Shape;234;p9"/>
          <p:cNvSpPr/>
          <p:nvPr/>
        </p:nvSpPr>
        <p:spPr>
          <a:xfrm>
            <a:off x="9646920" y="1764792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DLP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8823960" y="2606040"/>
            <a:ext cx="29718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Restricción de USB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Clasificación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Monitoreo de datos críticos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Alertas y auditoría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8823960" y="5532120"/>
            <a:ext cx="2971800" cy="548640"/>
          </a:xfrm>
          <a:prstGeom prst="roundRect">
            <a:avLst>
              <a:gd fmla="val 16667" name="adj"/>
            </a:avLst>
          </a:prstGeom>
          <a:solidFill>
            <a:srgbClr val="F6F8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8915400" y="566928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Resultado: control + repetibilidad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40080" y="6547104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Gobierno y continuidad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0972800" y="654710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640080" y="146304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Entregables del proyecto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58368" y="47548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Lo que se entrega y cómo se usa para evaluación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822960" y="1463040"/>
            <a:ext cx="507492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1143000" y="178308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51" name="Google Shape;251;p10"/>
          <p:cNvSpPr/>
          <p:nvPr/>
        </p:nvSpPr>
        <p:spPr>
          <a:xfrm>
            <a:off x="1271016" y="1911096"/>
            <a:ext cx="42976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2" name="Google Shape;252;p10"/>
          <p:cNvSpPr/>
          <p:nvPr/>
        </p:nvSpPr>
        <p:spPr>
          <a:xfrm>
            <a:off x="1965960" y="1755648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Informe de Pentesting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143000" y="2514600"/>
            <a:ext cx="4434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Vulnerabilidades identificadas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Pruebas controladas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Evidencias (Nmap/Kali)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Recomendaciones y fixes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6217920" y="1463040"/>
            <a:ext cx="507492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6537960" y="178308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56" name="Google Shape;256;p10"/>
          <p:cNvSpPr/>
          <p:nvPr/>
        </p:nvSpPr>
        <p:spPr>
          <a:xfrm>
            <a:off x="6665976" y="1911096"/>
            <a:ext cx="42976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7" name="Google Shape;257;p10"/>
          <p:cNvSpPr/>
          <p:nvPr/>
        </p:nvSpPr>
        <p:spPr>
          <a:xfrm>
            <a:off x="7360920" y="1755648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Informe de Incidente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6537960" y="2514600"/>
            <a:ext cx="4434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Línea de tiempo del ataque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Evidencia forense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Impacto y alcance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Acciones correctivas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822960" y="4114800"/>
            <a:ext cx="507492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1143000" y="443484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61" name="Google Shape;261;p10"/>
          <p:cNvSpPr/>
          <p:nvPr/>
        </p:nvSpPr>
        <p:spPr>
          <a:xfrm>
            <a:off x="1271016" y="4562856"/>
            <a:ext cx="42976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2" name="Google Shape;262;p10"/>
          <p:cNvSpPr/>
          <p:nvPr/>
        </p:nvSpPr>
        <p:spPr>
          <a:xfrm>
            <a:off x="1965960" y="4407408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Plan de Recuperación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1143000" y="5166360"/>
            <a:ext cx="4434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Restauración de servicios críticos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Backups y verificación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RTO/RPO y prioridades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Pruebas de recuperación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6217920" y="4114800"/>
            <a:ext cx="507492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6537960" y="4434840"/>
            <a:ext cx="685800" cy="68580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66" name="Google Shape;266;p10"/>
          <p:cNvSpPr/>
          <p:nvPr/>
        </p:nvSpPr>
        <p:spPr>
          <a:xfrm>
            <a:off x="6665976" y="4562856"/>
            <a:ext cx="429768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7" name="Google Shape;267;p10"/>
          <p:cNvSpPr/>
          <p:nvPr/>
        </p:nvSpPr>
        <p:spPr>
          <a:xfrm>
            <a:off x="7360920" y="4407408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Resumen Ejecutivo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6537960" y="5166360"/>
            <a:ext cx="4434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Resumen para gerencia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Riesgos y decisiones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Roadmap de mejoras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Indicadores y próximos pasos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822960" y="5989320"/>
            <a:ext cx="11247120" cy="502920"/>
          </a:xfrm>
          <a:prstGeom prst="roundRect">
            <a:avLst>
              <a:gd fmla="val 16667" name="adj"/>
            </a:avLst>
          </a:prstGeom>
          <a:solidFill>
            <a:srgbClr val="F6F8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1005840" y="6099048"/>
            <a:ext cx="11018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Cada entregable incluye evidencias reproducibles y recomendaciones accionables.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640080" y="6547104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Entregables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10972800" y="654710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9/12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640080" y="146304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Resultados y próximos pasos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658368" y="47548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Qué mejoró y cómo mantenerlo seguro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822960" y="1417320"/>
            <a:ext cx="1124712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1143000" y="1664208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Resultados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1143000" y="2057400"/>
            <a:ext cx="10789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Accesos inseguros eliminados (FTP anónimo / root por contraseña).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Credenciales y privilegios reforzados en la base de datos.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Menor superficie de ataque gracias al cierre de puertos no necesarios.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Evidencias y validación post-cambio documentadas.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822960" y="4343400"/>
            <a:ext cx="11247120" cy="1783080"/>
          </a:xfrm>
          <a:prstGeom prst="roundRect">
            <a:avLst>
              <a:gd fmla="val 16667" name="adj"/>
            </a:avLst>
          </a:prstGeom>
          <a:solidFill>
            <a:srgbClr val="F6F8F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1143000" y="45262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Próximos pasos (operación segura)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1143000" y="4892040"/>
            <a:ext cx="10789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Parches y actualizaciones periódicas (SO y servicios).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Auditoría y monitoreo (logs centralizados / alertas).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Escaneos recurrentes (Nmap/chequeos de configuración).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Backups probados + plan de recuperación ejecutable.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• Revisión continua del SGSI y capacitación.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640080" y="6547104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10972800" y="654710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10/12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cap="flat" cmpd="sng" w="12700">
            <a:solidFill>
              <a:srgbClr val="0B1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97" name="Google Shape;297;p12"/>
          <p:cNvSpPr/>
          <p:nvPr/>
        </p:nvSpPr>
        <p:spPr>
          <a:xfrm>
            <a:off x="5349240" y="1143000"/>
            <a:ext cx="14630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8" name="Google Shape;298;p12"/>
          <p:cNvSpPr/>
          <p:nvPr/>
        </p:nvSpPr>
        <p:spPr>
          <a:xfrm>
            <a:off x="822960" y="274320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Play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¿Preguntas?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822960" y="38862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822960" y="62636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Javier Rubier • 9 de enero de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2026-01-10T01:01:04Z</dcterms:created>
  <dc:creator>Javier Rubier</dc:creator>
</cp:coreProperties>
</file>